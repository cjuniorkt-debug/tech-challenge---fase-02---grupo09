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kO02RkScE3S3quD+B4n/Un5Mb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7268"/>
              </a:solidFill>
              <a:effectLst/>
            </c:spPr>
          </c:dPt>
          <c:dPt>
            <c:idx val="1"/>
            <c:bubble3D val="0"/>
            <c:spPr>
              <a:solidFill>
                <a:srgbClr val="5C1A2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Baixa/média qualidade</c:v>
                </c:pt>
                <c:pt idx="1">
                  <c:v>Alta qualidade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86.1</c:v>
                </c:pt>
                <c:pt idx="1">
                  <c:v>13.9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Teor alcoólico médio (%)</c:v>
                </c:pt>
              </c:strCache>
            </c:strRef>
          </c:tx>
          <c:spPr>
            <a:solidFill>
              <a:srgbClr val="8A72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72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C1A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Baixa/média qualidade</c:v>
                  </c:pt>
                  <c:pt idx="1">
                    <c:v>Alta qualidade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</c:v>
                </c:pt>
                <c:pt idx="1">
                  <c:v>11.5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Acidez volátil média (g/L)</c:v>
                </c:pt>
              </c:strCache>
            </c:strRef>
          </c:tx>
          <c:spPr>
            <a:solidFill>
              <a:srgbClr val="5C1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1A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726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Baixa/média qualidade</c:v>
                  </c:pt>
                  <c:pt idx="1">
                    <c:v>Alta qualidade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0.55</c:v>
                </c:pt>
                <c:pt idx="1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Baixa/média qualidade</c:v>
                </c:pt>
              </c:strCache>
            </c:strRef>
          </c:tx>
          <c:spPr>
            <a:solidFill>
              <a:srgbClr val="8A72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Sulfatos (g/L)</c:v>
                  </c:pt>
                  <c:pt idx="1">
                    <c:v>Ácido cítrico (g/L)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0.64</c:v>
                </c:pt>
                <c:pt idx="1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Alta qualidade</c:v>
                </c:pt>
              </c:strCache>
            </c:strRef>
          </c:tx>
          <c:spPr>
            <a:solidFill>
              <a:srgbClr val="5C1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Sulfatos (g/L)</c:v>
                  </c:pt>
                  <c:pt idx="1">
                    <c:v>Ácido cítrico (g/L)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0.75</c:v>
                </c:pt>
                <c:pt idx="1">
                  <c:v>0.39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chart" Target="../charts/char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0A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637276" y="685800"/>
            <a:ext cx="914400" cy="914400"/>
          </a:xfrm>
          <a:prstGeom prst="ellipse">
            <a:avLst/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6732" y="90525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31520" y="2103120"/>
            <a:ext cx="1072591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PREVENDO A QUALIDADE DO VINHO COM DADOS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463040" y="3200400"/>
            <a:ext cx="9262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66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9A66B"/>
                </a:solidFill>
                <a:latin typeface="Calibri"/>
                <a:ea typeface="Calibri"/>
                <a:cs typeface="Calibri"/>
                <a:sym typeface="Calibri"/>
              </a:rPr>
              <a:t>Como a ciência de dados pode apoiar a decisão de qualidade na produção vitivinícola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Tech Challenge — Fase 2  |  Apresentação Executiva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O DESAFIO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1463040"/>
            <a:ext cx="822960" cy="822960"/>
          </a:xfrm>
          <a:prstGeom prst="ellipse">
            <a:avLst/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90" y="166055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1737360" y="1371600"/>
            <a:ext cx="5120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Hoje, a qualidade do vinho é definida por especialistas, em análises sensoriais.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Isso funciona — mas é subjetivo, demanda tempo, e depende da experiência de quem avalia.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C9A6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590" y="38551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737360" y="3566160"/>
            <a:ext cx="5120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Durante a produção, já coletamos dados físico-químicos: acidez, teor alcoólico, densidade, sulfatos.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A pergunta deste projeto: esses dados conseguem antecipar a nota de qualidade?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406640" y="1371600"/>
            <a:ext cx="4114800" cy="4023360"/>
          </a:xfrm>
          <a:prstGeom prst="roundRect">
            <a:avLst>
              <a:gd fmla="val 2727" name="adj"/>
            </a:avLst>
          </a:prstGeom>
          <a:solidFill>
            <a:srgbClr val="F7F1EC"/>
          </a:solidFill>
          <a:ln>
            <a:noFill/>
          </a:ln>
          <a:effectLst>
            <a:outerShdw blurRad="1016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680960" y="16459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SE FUNCIONAR, ISSO PERMITE: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680960" y="22860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0688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8321040" y="22402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Sinalizar lotes promissores antes da avaliação sensorial completa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680960" y="32918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0688" y="34015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8321040" y="32461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Padronizar critérios de controle de qualidade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680960" y="42976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0688" y="44074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8321040" y="425196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Apoiar ajustes no processo produtivo com base em dados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A BASE DE 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40080" y="10515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1.143 amostras de vinho, com 11 medidas físico-químicas coletadas durante a produção.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40080" y="1737360"/>
            <a:ext cx="2103120" cy="1737360"/>
          </a:xfrm>
          <a:prstGeom prst="roundRect">
            <a:avLst>
              <a:gd fmla="val 5263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40080" y="182880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1.143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" y="2697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amostras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analisadas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971800" y="1737360"/>
            <a:ext cx="2103120" cy="1737360"/>
          </a:xfrm>
          <a:prstGeom prst="roundRect">
            <a:avLst>
              <a:gd fmla="val 5263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971800" y="182880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971800" y="2697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variáveis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físico-químicas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303520" y="1737360"/>
            <a:ext cx="2103120" cy="1737360"/>
          </a:xfrm>
          <a:prstGeom prst="roundRect">
            <a:avLst>
              <a:gd fmla="val 5263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303520" y="182880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13,9%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303520" y="2697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dos vinhos 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de alta qualidade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680960" y="17373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Proporção de vinhos por classificação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" name="Google Shape;61;p3"/>
          <p:cNvGraphicFramePr/>
          <p:nvPr/>
        </p:nvGraphicFramePr>
        <p:xfrm>
          <a:off x="7680960" y="2103120"/>
          <a:ext cx="3840480" cy="3291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2" name="Google Shape;62;p3"/>
          <p:cNvSpPr/>
          <p:nvPr/>
        </p:nvSpPr>
        <p:spPr>
          <a:xfrm>
            <a:off x="640080" y="3749040"/>
            <a:ext cx="6675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Poucos vinhos atingem nota ≥ 7 — reforça a importância de tratar o desbalanceamento no modelo.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699" y="6565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1463040" y="45720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INSIGHT 1 — TEOR ALCOÓLICO É O SINAL MAIS FORTE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4"/>
          <p:cNvGraphicFramePr/>
          <p:nvPr/>
        </p:nvGraphicFramePr>
        <p:xfrm>
          <a:off x="640080" y="1554480"/>
          <a:ext cx="5760720" cy="40233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72" name="Google Shape;72;p4"/>
          <p:cNvSpPr/>
          <p:nvPr/>
        </p:nvSpPr>
        <p:spPr>
          <a:xfrm>
            <a:off x="6766560" y="1554480"/>
            <a:ext cx="4754880" cy="4023360"/>
          </a:xfrm>
          <a:prstGeom prst="roundRect">
            <a:avLst>
              <a:gd fmla="val 2727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040880" y="18288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O QUE ISSO SIGNIFICA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040880" y="2286000"/>
            <a:ext cx="42062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Vinhos de alta qualidade têm, em média, </a:t>
            </a:r>
            <a:r>
              <a:rPr b="1" i="0" lang="en-US" sz="1450" u="none" cap="none" strike="noStrike">
                <a:solidFill>
                  <a:srgbClr val="5C1A2B"/>
                </a:solidFill>
                <a:latin typeface="Calibri"/>
                <a:ea typeface="Calibri"/>
                <a:cs typeface="Calibri"/>
                <a:sym typeface="Calibri"/>
              </a:rPr>
              <a:t>11,5% </a:t>
            </a:r>
            <a:r>
              <a:rPr b="0" i="0" lang="en-US" sz="14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de teor alcoólico — contra </a:t>
            </a:r>
            <a:r>
              <a:rPr b="1" i="0" lang="en-US" sz="1450" u="none" cap="none" strike="noStrike">
                <a:solidFill>
                  <a:srgbClr val="5C1A2B"/>
                </a:solidFill>
                <a:latin typeface="Calibri"/>
                <a:ea typeface="Calibri"/>
                <a:cs typeface="Calibri"/>
                <a:sym typeface="Calibri"/>
              </a:rPr>
              <a:t>10,3% </a:t>
            </a:r>
            <a:r>
              <a:rPr b="0" i="0" lang="en-US" sz="14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nos demais.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Isso está ligado à maturação da uva e a uma fermentação mais completa — dois pontos que o processo produtivo já monitora e pode ajustar.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A6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699" y="6565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1463040" y="45720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INSIGHT 2 — ACIDEZ VOLÁTIL É UM SINAL DE ALERTA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5"/>
          <p:cNvGraphicFramePr/>
          <p:nvPr/>
        </p:nvGraphicFramePr>
        <p:xfrm>
          <a:off x="640080" y="1554480"/>
          <a:ext cx="5760720" cy="40233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84" name="Google Shape;84;p5"/>
          <p:cNvSpPr/>
          <p:nvPr/>
        </p:nvSpPr>
        <p:spPr>
          <a:xfrm>
            <a:off x="6766560" y="1554480"/>
            <a:ext cx="4754880" cy="4023360"/>
          </a:xfrm>
          <a:prstGeom prst="roundRect">
            <a:avLst>
              <a:gd fmla="val 2727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040880" y="18288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O QUE ISSO SIGNIFICA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040880" y="2286000"/>
            <a:ext cx="42062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Aqui a relação é inversa: quanto mais acidez volátil, </a:t>
            </a:r>
            <a:r>
              <a:rPr b="1" i="0" lang="en-US" sz="1450" u="none" cap="none" strike="noStrike">
                <a:solidFill>
                  <a:srgbClr val="5C1A2B"/>
                </a:solidFill>
                <a:latin typeface="Calibri"/>
                <a:ea typeface="Calibri"/>
                <a:cs typeface="Calibri"/>
                <a:sym typeface="Calibri"/>
              </a:rPr>
              <a:t>pior </a:t>
            </a:r>
            <a:r>
              <a:rPr b="0" i="0" lang="en-US" sz="14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tende a ser a nota.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Na prática, acidez volátil alta costuma indicar contaminação durante a fermentação — o famoso gosto de vinagre.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Ou seja: aqui o ganho não é otimizar, é prevenir defeito.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699" y="6565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146304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INSIGHT 3 — SULFATOS E ÁCIDO CÍTRICO REFORÇAM O PADRÃO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6"/>
          <p:cNvGraphicFramePr/>
          <p:nvPr/>
        </p:nvGraphicFramePr>
        <p:xfrm>
          <a:off x="640080" y="1554480"/>
          <a:ext cx="6766560" cy="41148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96" name="Google Shape;96;p6"/>
          <p:cNvSpPr/>
          <p:nvPr/>
        </p:nvSpPr>
        <p:spPr>
          <a:xfrm>
            <a:off x="7680960" y="1554480"/>
            <a:ext cx="3840480" cy="4114800"/>
          </a:xfrm>
          <a:prstGeom prst="roundRect">
            <a:avLst>
              <a:gd fmla="val 2857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955280" y="18288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O QUE ISSO SIGNIFICA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955280" y="2286000"/>
            <a:ext cx="3291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Sulfatos e ácido cítrico também aparecem mais altos nos vinhos de alta qualidade — ambos são parâmetros que o enólogo já ajusta diretamente na produção (dosagem de conservante e correção de acidez).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São, portanto, pontos de controle acionáveis, não apenas números para monitorar.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O QUE O MODELO PREDITIVO ENTREGA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A7268"/>
                </a:solidFill>
                <a:latin typeface="Calibri"/>
                <a:ea typeface="Calibri"/>
                <a:cs typeface="Calibri"/>
                <a:sym typeface="Calibri"/>
              </a:rPr>
              <a:t>Testamos várias abordagens de aprendizado de máquina; a mais consistente foi capaz de: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0080" y="1737360"/>
            <a:ext cx="3657600" cy="3931920"/>
          </a:xfrm>
          <a:prstGeom prst="roundRect">
            <a:avLst>
              <a:gd fmla="val 3000" name="adj"/>
            </a:avLst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40080" y="210312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91%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005840" y="3383280"/>
            <a:ext cx="2926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precisão ao sinalizar um vinho como "alta qualidade" na camada mais rigorosa de triagem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663440" y="1737360"/>
            <a:ext cx="594360" cy="594360"/>
          </a:xfrm>
          <a:prstGeom prst="ellipse">
            <a:avLst/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6086" y="1880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/>
          <p:nvPr/>
        </p:nvSpPr>
        <p:spPr>
          <a:xfrm>
            <a:off x="5486400" y="1691640"/>
            <a:ext cx="6035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Funciona como uma pré-triagem: sinaliza candidatos a alta qualidade antes da avaliação sensorial, sem substituí-la.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663440" y="3063240"/>
            <a:ext cx="594360" cy="594360"/>
          </a:xfrm>
          <a:prstGeom prst="ellipse">
            <a:avLst/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6086" y="320588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5486400" y="3017520"/>
            <a:ext cx="6035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Quando o modelo aponta "alta qualidade" com o critério mais rigoroso, ele acerta 9 de cada 10 vezes.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663440" y="4389120"/>
            <a:ext cx="594360" cy="594360"/>
          </a:xfrm>
          <a:prstGeom prst="ellipse">
            <a:avLst/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6086" y="453176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5486400" y="4343400"/>
            <a:ext cx="6035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Usa apenas dados já coletados na produção — não exige nenhuma medição adicional.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5C1A2B"/>
                </a:solidFill>
                <a:latin typeface="Cambria"/>
                <a:ea typeface="Cambria"/>
                <a:cs typeface="Cambria"/>
                <a:sym typeface="Cambria"/>
              </a:rPr>
              <a:t>RECOMENDAÇÕES PARA O PROCESSO PRODUTIVO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40080" y="1371600"/>
            <a:ext cx="5120640" cy="2194560"/>
          </a:xfrm>
          <a:prstGeom prst="roundRect">
            <a:avLst>
              <a:gd fmla="val 4167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019" y="17995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8"/>
          <p:cNvSpPr/>
          <p:nvPr/>
        </p:nvSpPr>
        <p:spPr>
          <a:xfrm>
            <a:off x="1737360" y="16002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C1A2B"/>
                </a:solidFill>
                <a:latin typeface="Calibri"/>
                <a:ea typeface="Calibri"/>
                <a:cs typeface="Calibri"/>
                <a:sym typeface="Calibri"/>
              </a:rPr>
              <a:t>Acompanhar a maturação da uva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914400" y="233172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Colheita e fermentação bem conduzidas elevam o teor alcoólico — hoje o sinal mais associado a notas altas.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126480" y="1371600"/>
            <a:ext cx="5120640" cy="2194560"/>
          </a:xfrm>
          <a:prstGeom prst="roundRect">
            <a:avLst>
              <a:gd fmla="val 4167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4419" y="17995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7223760" y="16002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C1A2B"/>
                </a:solidFill>
                <a:latin typeface="Calibri"/>
                <a:ea typeface="Calibri"/>
                <a:cs typeface="Calibri"/>
                <a:sym typeface="Calibri"/>
              </a:rPr>
              <a:t>Reforçar o controle na fermentação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400800" y="233172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Monitorar temperatura e higienização reduz o risco de acidez volátil elevada — hoje o principal sinal de alerta.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40080" y="3840480"/>
            <a:ext cx="5120640" cy="2194560"/>
          </a:xfrm>
          <a:prstGeom prst="roundRect">
            <a:avLst>
              <a:gd fmla="val 4167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8019" y="42684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1737360" y="40690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C1A2B"/>
                </a:solidFill>
                <a:latin typeface="Calibri"/>
                <a:ea typeface="Calibri"/>
                <a:cs typeface="Calibri"/>
                <a:sym typeface="Calibri"/>
              </a:rPr>
              <a:t>Padronizar dosagem de sulfatos e correção de acidez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914400" y="480060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São parâmetros que a equipe já ajusta e que se mostraram associados a vinhos mais bem avaliados.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126480" y="3840480"/>
            <a:ext cx="5120640" cy="2194560"/>
          </a:xfrm>
          <a:prstGeom prst="roundRect">
            <a:avLst>
              <a:gd fmla="val 4167" name="adj"/>
            </a:avLst>
          </a:prstGeom>
          <a:solidFill>
            <a:srgbClr val="F7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4419" y="42684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7223760" y="40690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1A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C1A2B"/>
                </a:solidFill>
                <a:latin typeface="Calibri"/>
                <a:ea typeface="Calibri"/>
                <a:cs typeface="Calibri"/>
                <a:sym typeface="Calibri"/>
              </a:rPr>
              <a:t>Usar o modelo como apoio, não substituto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400800" y="480060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A20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2027"/>
                </a:solidFill>
                <a:latin typeface="Calibri"/>
                <a:ea typeface="Calibri"/>
                <a:cs typeface="Calibri"/>
                <a:sym typeface="Calibri"/>
              </a:rPr>
              <a:t>O modelo é uma ferramenta de pré-triagem para orientar prioridades — a decisão final continua sendo do especialista.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0A1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5682996" y="548640"/>
            <a:ext cx="822960" cy="822960"/>
          </a:xfrm>
          <a:prstGeom prst="ellipse">
            <a:avLst/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0506" y="74615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/>
          <p:nvPr/>
        </p:nvSpPr>
        <p:spPr>
          <a:xfrm>
            <a:off x="1097280" y="1737360"/>
            <a:ext cx="99943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DADOS FÍSICO-QUÍMICOS JÁ COLETADOS PODEM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ANTECIPAR SINAIS DE QUALIDADE DO VINHO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286000" y="3291840"/>
            <a:ext cx="7616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6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66B"/>
                </a:solidFill>
                <a:latin typeface="Calibri"/>
                <a:ea typeface="Calibri"/>
                <a:cs typeface="Calibri"/>
                <a:sym typeface="Calibri"/>
              </a:rPr>
              <a:t>Próximos passos sugeridos: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2377440" y="3840480"/>
            <a:ext cx="365760" cy="365760"/>
          </a:xfrm>
          <a:prstGeom prst="ellipse">
            <a:avLst/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5222" y="39282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/>
          <p:nvPr/>
        </p:nvSpPr>
        <p:spPr>
          <a:xfrm>
            <a:off x="2926080" y="3767328"/>
            <a:ext cx="6885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Testar o modelo em paralelo à avaliação sensorial, por um período piloto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377440" y="4343400"/>
            <a:ext cx="365760" cy="365760"/>
          </a:xfrm>
          <a:prstGeom prst="ellipse">
            <a:avLst/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5222" y="44311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2926080" y="4270248"/>
            <a:ext cx="6885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Ampliar a coleta com mais lotes para fortalecer a confiabilidade estatística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377440" y="4846320"/>
            <a:ext cx="365760" cy="365760"/>
          </a:xfrm>
          <a:prstGeom prst="ellipse">
            <a:avLst/>
          </a:prstGeom>
          <a:solidFill>
            <a:srgbClr val="5C1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5222" y="493410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2926080" y="4773168"/>
            <a:ext cx="6885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Revisar os limiares de decisão junto à equipe técnica, conforme a tolerância a erro desejada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268"/>
              </a:buClr>
              <a:buSzPts val="1400"/>
              <a:buFont typeface="Cambria"/>
              <a:buNone/>
            </a:pPr>
            <a:r>
              <a:rPr b="0" i="1" lang="en-US" sz="1400" u="none" cap="none" strike="noStrike">
                <a:solidFill>
                  <a:srgbClr val="8A7268"/>
                </a:solidFill>
                <a:latin typeface="Cambria"/>
                <a:ea typeface="Cambria"/>
                <a:cs typeface="Cambria"/>
                <a:sym typeface="Cambria"/>
              </a:rPr>
              <a:t>Obrigado.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2026-07-06T02:39:19Z</dcterms:created>
  <dc:creator>Tech Challenge - Fase 2</dc:creator>
</cp:coreProperties>
</file>